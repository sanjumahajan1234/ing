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What is a Digital Workplace Ambassador?
HOOK (10 sec):
"Quick show of hands — who uses Teams or SharePoint every single day?" [pause] "Ambassadors help make those tools — and all the others — actually work for you and your team."
CARD BY CARD (75 sec):
🔍 Questions card:
"The Ambassador is the go-to for 'how do I do this?' questions — across Teams, SharePoint, Power Automate, Copilot, Forms, Planner. Not IT incidents — that's still the Service Desk. The Ambassador fills the gap between IT and your day-to-day workflow."
📣 Best practices card — this is the Finance-specific one, sell it:
"This is where it gets interesting for us specifically. It's not generic tips — it's things like:
  • How to write a good Copilot prompt to summarise a month-end email thread or draft commentary
  • How to update and format a PowerPoint deck faster using Copilot
  • How to build a Power Automate workflow to handle report approvals without chasing emails
  • How to share Power Query techniques across the team so we're not all solving the same problem separately
  That's real productivity — specific to how Finance works."
🔄 Feedback card:
"If a tool rollout doesn't fit how Finance operates — the Ambassador captures that and sends it back to Workplace Services. We're not just end users, we shape how adoption happens."
🧪 Early access card:
"You get to pilot new features before they go live. Bi-monthly sessions, first look at what's coming. You bring those insights back to the team."
STAT (10 sec):
"1,700 colleagues globally are doing this across 5 continents. This is a real, active programme — not a one-off initiative."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What You Get · Why Join · Sign Up
SECTION 1 — What you get (45 sec):
💬 Viva Engage: "There's a global community where Ambassadors share tips, ask questions, and help each other. You're connected to peers across all ING entities."
📅 Bi-monthly sessions: "Live walk-in sessions every two months — two time slots so it works across time zones. You hear about new features before your colleagues."
🚀 Early access: "You pilot new tools before general rollout. If something doesn't work for Finance, you flag it early."
🎓 Training: "Training calendar, MS365 sessions you can run for your own team, weekly tips pushed directly to you."
SECTION 2 — Make it visible (20 sec):
"Three simple things once you join: set the Ambassador Teams background so people see it in every meeting, update your status message, and share one tip in your next team meeting. Low effort, high visibility."
CTA (15 sec):
"No dedicated headcount, no separate KPIs. Light commitment — real upside in terms of network, visibility, and being ahead of the curve on tools we all use every day."
"Metha in our team has already joined — she can tell you what it's actually like. If you're interested, speak to me or sign up directly via the intranet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ing.sharepoint.com/sites/intranet-017-mywork/SitePages/digital-workplace-ambassador.aspx"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ing.sharepoint.com/sites/intranet-017-mywork/SitePages/digital-workplace-ambassador.aspx"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FF6200"/>
          </a:solidFill>
          <a:ln/>
        </p:spPr>
      </p:sp>
      <p:sp>
        <p:nvSpPr>
          <p:cNvPr id="3" name="Text 1"/>
          <p:cNvSpPr txBox="1"/>
          <p:nvPr/>
        </p:nvSpPr>
        <p:spPr>
          <a:xfrm>
            <a:off x="182880" y="274320"/>
            <a:ext cx="3108960" cy="1920240"/>
          </a:xfrm>
          <a:prstGeom prst="rect">
            <a:avLst/>
          </a:prstGeom>
          <a:noFill/>
          <a:ln/>
        </p:spPr>
        <p:txBody>
          <a:bodyPr wrap="square" lIns="0" tIns="0" rIns="0" bIns="0" rtlCol="0" anchor="t"/>
          <a:lstStyle/>
          <a:p>
            <a:pPr algn="l" indent="0" marL="0">
              <a:buNone/>
            </a:pPr>
            <a:r>
              <a:rPr lang="en-US" sz="2700" b="1" dirty="0">
                <a:solidFill>
                  <a:srgbClr val="FFFFFF"/>
                </a:solidFill>
              </a:rPr>
              <a:t>Digital</a:t>
            </a:r>
            <a:endParaRPr lang="en-US" sz="2700" dirty="0"/>
          </a:p>
          <a:p>
            <a:pPr algn="l" indent="0" marL="0">
              <a:buNone/>
            </a:pPr>
            <a:r>
              <a:rPr lang="en-US" sz="2700" b="1" dirty="0">
                <a:solidFill>
                  <a:srgbClr val="FFFFFF"/>
                </a:solidFill>
              </a:rPr>
              <a:t>Workplace</a:t>
            </a:r>
            <a:endParaRPr lang="en-US" sz="2700" dirty="0"/>
          </a:p>
          <a:p>
            <a:pPr algn="l" indent="0" marL="0">
              <a:buNone/>
            </a:pPr>
            <a:r>
              <a:rPr lang="en-US" sz="2700" b="1" dirty="0">
                <a:solidFill>
                  <a:srgbClr val="FFFFFF"/>
                </a:solidFill>
              </a:rPr>
              <a:t>Ambassador</a:t>
            </a:r>
            <a:endParaRPr lang="en-US" sz="2700" dirty="0"/>
          </a:p>
        </p:txBody>
      </p:sp>
      <p:sp>
        <p:nvSpPr>
          <p:cNvPr id="4" name="Text 2"/>
          <p:cNvSpPr txBox="1"/>
          <p:nvPr/>
        </p:nvSpPr>
        <p:spPr>
          <a:xfrm>
            <a:off x="182880" y="2286000"/>
            <a:ext cx="3108960" cy="548640"/>
          </a:xfrm>
          <a:prstGeom prst="rect">
            <a:avLst/>
          </a:prstGeom>
          <a:noFill/>
          <a:ln/>
        </p:spPr>
        <p:txBody>
          <a:bodyPr wrap="square" lIns="0" tIns="0" rIns="0" bIns="0" rtlCol="0" anchor="ctr"/>
          <a:lstStyle/>
          <a:p>
            <a:pPr algn="l" indent="0" marL="0">
              <a:buNone/>
            </a:pPr>
            <a:r>
              <a:rPr lang="en-US" sz="1050" i="1" dirty="0">
                <a:solidFill>
                  <a:srgbClr val="FFFFFF"/>
                </a:solidFill>
              </a:rPr>
              <a:t>Your peer guide to smarter working</a:t>
            </a:r>
            <a:endParaRPr lang="en-US" sz="1050" dirty="0"/>
          </a:p>
          <a:p>
            <a:pPr algn="l" indent="0" marL="0">
              <a:buNone/>
            </a:pPr>
            <a:r>
              <a:rPr lang="en-US" sz="1050" i="1" dirty="0">
                <a:solidFill>
                  <a:srgbClr val="FFFFFF"/>
                </a:solidFill>
              </a:rPr>
              <a:t>with ING digital tools</a:t>
            </a:r>
            <a:endParaRPr lang="en-US" sz="1050" dirty="0"/>
          </a:p>
        </p:txBody>
      </p:sp>
      <p:sp>
        <p:nvSpPr>
          <p:cNvPr id="5" name="Shape 3"/>
          <p:cNvSpPr/>
          <p:nvPr/>
        </p:nvSpPr>
        <p:spPr>
          <a:xfrm>
            <a:off x="182880" y="2944368"/>
            <a:ext cx="3063240" cy="402336"/>
          </a:xfrm>
          <a:prstGeom prst="roundRect">
            <a:avLst>
              <a:gd name="adj" fmla="val 11364"/>
            </a:avLst>
          </a:prstGeom>
          <a:solidFill>
            <a:srgbClr val="CC4E00"/>
          </a:solidFill>
          <a:ln/>
        </p:spPr>
      </p:sp>
      <p:sp>
        <p:nvSpPr>
          <p:cNvPr id="6" name="Text 4"/>
          <p:cNvSpPr txBox="1"/>
          <p:nvPr/>
        </p:nvSpPr>
        <p:spPr>
          <a:xfrm>
            <a:off x="228600" y="2971800"/>
            <a:ext cx="2971800" cy="329184"/>
          </a:xfrm>
          <a:prstGeom prst="rect">
            <a:avLst/>
          </a:prstGeom>
          <a:noFill/>
          <a:ln/>
        </p:spPr>
        <p:txBody>
          <a:bodyPr wrap="square" lIns="0" tIns="0" rIns="0" bIns="0" rtlCol="0" anchor="ctr"/>
          <a:lstStyle/>
          <a:p>
            <a:pPr algn="ctr" indent="0" marL="0">
              <a:buNone/>
            </a:pPr>
            <a:r>
              <a:rPr lang="en-US" sz="850" b="1" dirty="0">
                <a:solidFill>
                  <a:srgbClr val="FFFFFF"/>
                </a:solidFill>
              </a:rPr>
              <a:t>Teams · SharePoint · Power Automate · Copilot · and more</a:t>
            </a:r>
            <a:endParaRPr lang="en-US" sz="850" dirty="0"/>
          </a:p>
        </p:txBody>
      </p:sp>
      <p:sp>
        <p:nvSpPr>
          <p:cNvPr id="7" name="Shape 5"/>
          <p:cNvSpPr/>
          <p:nvPr/>
        </p:nvSpPr>
        <p:spPr>
          <a:xfrm>
            <a:off x="182880" y="3493008"/>
            <a:ext cx="3063240" cy="502920"/>
          </a:xfrm>
          <a:prstGeom prst="roundRect">
            <a:avLst>
              <a:gd name="adj" fmla="val 9091"/>
            </a:avLst>
          </a:prstGeom>
          <a:solidFill>
            <a:srgbClr val="1A1A1A"/>
          </a:solidFill>
          <a:ln/>
        </p:spPr>
      </p:sp>
      <p:sp>
        <p:nvSpPr>
          <p:cNvPr id="8" name="Text 6"/>
          <p:cNvSpPr txBox="1"/>
          <p:nvPr/>
        </p:nvSpPr>
        <p:spPr>
          <a:xfrm>
            <a:off x="256032" y="3538728"/>
            <a:ext cx="2926080" cy="201168"/>
          </a:xfrm>
          <a:prstGeom prst="rect">
            <a:avLst/>
          </a:prstGeom>
          <a:noFill/>
          <a:ln/>
        </p:spPr>
        <p:txBody>
          <a:bodyPr wrap="square" lIns="0" tIns="0" rIns="0" bIns="0" rtlCol="0" anchor="ctr"/>
          <a:lstStyle/>
          <a:p>
            <a:pPr algn="l" indent="0" marL="0">
              <a:buNone/>
            </a:pPr>
            <a:r>
              <a:rPr lang="en-US" sz="1000" b="1" dirty="0">
                <a:solidFill>
                  <a:srgbClr val="FF6200"/>
                </a:solidFill>
              </a:rPr>
              <a:t>🌐  1,700+ Ambassadors worldwide</a:t>
            </a:r>
            <a:endParaRPr lang="en-US" sz="1000" dirty="0"/>
          </a:p>
        </p:txBody>
      </p:sp>
      <p:sp>
        <p:nvSpPr>
          <p:cNvPr id="9" name="Text 7"/>
          <p:cNvSpPr txBox="1"/>
          <p:nvPr/>
        </p:nvSpPr>
        <p:spPr>
          <a:xfrm>
            <a:off x="256032" y="3749040"/>
            <a:ext cx="2926080" cy="182880"/>
          </a:xfrm>
          <a:prstGeom prst="rect">
            <a:avLst/>
          </a:prstGeom>
          <a:noFill/>
          <a:ln/>
        </p:spPr>
        <p:txBody>
          <a:bodyPr wrap="square" lIns="0" tIns="0" rIns="0" bIns="0" rtlCol="0" anchor="ctr"/>
          <a:lstStyle/>
          <a:p>
            <a:pPr algn="l" indent="0" marL="0">
              <a:buNone/>
            </a:pPr>
            <a:r>
              <a:rPr lang="en-US" sz="850" i="1" dirty="0">
                <a:solidFill>
                  <a:srgbClr val="CCCCCC"/>
                </a:solidFill>
              </a:rPr>
              <a:t>Active on Viva Engage · 5 continents</a:t>
            </a:r>
            <a:endParaRPr lang="en-US" sz="850" dirty="0"/>
          </a:p>
        </p:txBody>
      </p:sp>
      <p:sp>
        <p:nvSpPr>
          <p:cNvPr id="10" name="Shape 8"/>
          <p:cNvSpPr/>
          <p:nvPr/>
        </p:nvSpPr>
        <p:spPr>
          <a:xfrm>
            <a:off x="182880" y="4160520"/>
            <a:ext cx="3063240" cy="475488"/>
          </a:xfrm>
          <a:prstGeom prst="roundRect">
            <a:avLst>
              <a:gd name="adj" fmla="val 9615"/>
            </a:avLst>
          </a:prstGeom>
          <a:solidFill>
            <a:srgbClr val="FFFFFF"/>
          </a:solidFill>
          <a:ln/>
        </p:spPr>
      </p:sp>
      <p:sp>
        <p:nvSpPr>
          <p:cNvPr id="11" name="Text 9">
            <a:hlinkClick r:id="rId1" tooltip=""/>
          </p:cNvPr>
          <p:cNvSpPr txBox="1"/>
          <p:nvPr/>
        </p:nvSpPr>
        <p:spPr>
          <a:xfrm>
            <a:off x="256032" y="4187952"/>
            <a:ext cx="2926080" cy="210312"/>
          </a:xfrm>
          <a:prstGeom prst="rect">
            <a:avLst/>
          </a:prstGeom>
          <a:noFill/>
          <a:ln/>
        </p:spPr>
        <p:txBody>
          <a:bodyPr wrap="square" lIns="0" tIns="0" rIns="0" bIns="0" rtlCol="0" anchor="ctr"/>
          <a:lstStyle/>
          <a:p>
            <a:pPr algn="l" indent="0" marL="0">
              <a:buNone/>
            </a:pPr>
            <a:r>
              <a:rPr lang="en-US" sz="900" b="1" u="sng" dirty="0">
                <a:solidFill>
                  <a:srgbClr val="FF6200"/>
                </a:solidFill>
                <a:hlinkClick r:id="rId1" invalidUrl="" action="" tgtFrame="" tooltip="" history="1" highlightClick="0" endSnd="0">
                  <a:extLst>
                    <a:ext uri="{A12FA001-AC4F-418D-AE19-62706E023703}">
                      <ahyp:hlinkClr xmlns:ahyp="http://schemas.microsoft.com/office/drawing/2018/hyperlinkcolor" val="tx"/>
                    </a:ext>
                  </a:extLst>
                </a:hlinkClick>
              </a:rPr>
              <a:t>🔗  Learn more on ING Intranet</a:t>
            </a:r>
            <a:endParaRPr lang="en-US" sz="900" dirty="0"/>
          </a:p>
        </p:txBody>
      </p:sp>
      <p:sp>
        <p:nvSpPr>
          <p:cNvPr id="12" name="Text 10"/>
          <p:cNvSpPr txBox="1"/>
          <p:nvPr/>
        </p:nvSpPr>
        <p:spPr>
          <a:xfrm>
            <a:off x="256032" y="4398264"/>
            <a:ext cx="2926080" cy="182880"/>
          </a:xfrm>
          <a:prstGeom prst="rect">
            <a:avLst/>
          </a:prstGeom>
          <a:noFill/>
          <a:ln/>
        </p:spPr>
        <p:txBody>
          <a:bodyPr wrap="square" lIns="0" tIns="0" rIns="0" bIns="0" rtlCol="0" anchor="ctr"/>
          <a:lstStyle/>
          <a:p>
            <a:pPr algn="l" indent="0" marL="0">
              <a:buNone/>
            </a:pPr>
            <a:r>
              <a:rPr lang="en-US" sz="750" i="1" dirty="0">
                <a:solidFill>
                  <a:srgbClr val="888888"/>
                </a:solidFill>
              </a:rPr>
              <a:t>ing.sharepoint.com › digital-workplace-ambassador</a:t>
            </a:r>
            <a:endParaRPr lang="en-US" sz="750" dirty="0"/>
          </a:p>
        </p:txBody>
      </p:sp>
      <p:sp>
        <p:nvSpPr>
          <p:cNvPr id="13" name="Text 11"/>
          <p:cNvSpPr txBox="1"/>
          <p:nvPr/>
        </p:nvSpPr>
        <p:spPr>
          <a:xfrm>
            <a:off x="3703320" y="228600"/>
            <a:ext cx="5257800" cy="384048"/>
          </a:xfrm>
          <a:prstGeom prst="rect">
            <a:avLst/>
          </a:prstGeom>
          <a:noFill/>
          <a:ln/>
        </p:spPr>
        <p:txBody>
          <a:bodyPr wrap="square" lIns="0" tIns="0" rIns="0" bIns="0" rtlCol="0" anchor="ctr"/>
          <a:lstStyle/>
          <a:p>
            <a:pPr indent="0" marL="0">
              <a:buNone/>
            </a:pPr>
            <a:r>
              <a:rPr lang="en-US" sz="1700" b="1" dirty="0">
                <a:solidFill>
                  <a:srgbClr val="FF6200"/>
                </a:solidFill>
              </a:rPr>
              <a:t>What does an Ambassador do?</a:t>
            </a:r>
            <a:endParaRPr lang="en-US" sz="1700" dirty="0"/>
          </a:p>
        </p:txBody>
      </p:sp>
      <p:sp>
        <p:nvSpPr>
          <p:cNvPr id="14" name="Shape 12"/>
          <p:cNvSpPr/>
          <p:nvPr/>
        </p:nvSpPr>
        <p:spPr>
          <a:xfrm>
            <a:off x="3703320" y="749808"/>
            <a:ext cx="5230368" cy="886968"/>
          </a:xfrm>
          <a:prstGeom prst="roundRect">
            <a:avLst>
              <a:gd name="adj" fmla="val 5155"/>
            </a:avLst>
          </a:prstGeom>
          <a:solidFill>
            <a:srgbClr val="F4F4F4"/>
          </a:solidFill>
          <a:ln w="6350">
            <a:solidFill>
              <a:srgbClr val="CCCCCC"/>
            </a:solidFill>
            <a:prstDash val="solid"/>
          </a:ln>
        </p:spPr>
      </p:sp>
      <p:sp>
        <p:nvSpPr>
          <p:cNvPr id="15" name="Text 13"/>
          <p:cNvSpPr txBox="1"/>
          <p:nvPr/>
        </p:nvSpPr>
        <p:spPr>
          <a:xfrm>
            <a:off x="3858768" y="804672"/>
            <a:ext cx="4919472" cy="237744"/>
          </a:xfrm>
          <a:prstGeom prst="rect">
            <a:avLst/>
          </a:prstGeom>
          <a:noFill/>
          <a:ln/>
        </p:spPr>
        <p:txBody>
          <a:bodyPr wrap="square" lIns="0" tIns="0" rIns="0" bIns="0" rtlCol="0" anchor="t"/>
          <a:lstStyle/>
          <a:p>
            <a:pPr algn="l" indent="0" marL="0">
              <a:buNone/>
            </a:pPr>
            <a:r>
              <a:rPr lang="en-US" sz="1050" b="1" dirty="0">
                <a:solidFill>
                  <a:srgbClr val="1A1A1A"/>
                </a:solidFill>
              </a:rPr>
              <a:t>🔍  Answer digital tool questions</a:t>
            </a:r>
            <a:endParaRPr lang="en-US" sz="1050" dirty="0"/>
          </a:p>
        </p:txBody>
      </p:sp>
      <p:sp>
        <p:nvSpPr>
          <p:cNvPr id="16" name="Text 14"/>
          <p:cNvSpPr txBox="1"/>
          <p:nvPr/>
        </p:nvSpPr>
        <p:spPr>
          <a:xfrm>
            <a:off x="3858768" y="1069848"/>
            <a:ext cx="4919472" cy="502920"/>
          </a:xfrm>
          <a:prstGeom prst="rect">
            <a:avLst/>
          </a:prstGeom>
          <a:noFill/>
          <a:ln/>
        </p:spPr>
        <p:txBody>
          <a:bodyPr wrap="square" lIns="0" tIns="0" rIns="0" bIns="0" rtlCol="0" anchor="t"/>
          <a:lstStyle/>
          <a:p>
            <a:pPr algn="l" indent="0" marL="0">
              <a:buNone/>
            </a:pPr>
            <a:r>
              <a:rPr lang="en-US" sz="950" dirty="0">
                <a:solidFill>
                  <a:srgbClr val="555555"/>
                </a:solidFill>
              </a:rPr>
              <a:t>Go-to for "how do I do this?" on Teams, SharePoint, Power Automate, Copilot, Forms, Planner — and any new ING tool. Not IT incidents.</a:t>
            </a:r>
            <a:endParaRPr lang="en-US" sz="950" dirty="0"/>
          </a:p>
        </p:txBody>
      </p:sp>
      <p:sp>
        <p:nvSpPr>
          <p:cNvPr id="17" name="Shape 15"/>
          <p:cNvSpPr/>
          <p:nvPr/>
        </p:nvSpPr>
        <p:spPr>
          <a:xfrm>
            <a:off x="3703320" y="1737360"/>
            <a:ext cx="5230368" cy="886968"/>
          </a:xfrm>
          <a:prstGeom prst="roundRect">
            <a:avLst>
              <a:gd name="adj" fmla="val 5155"/>
            </a:avLst>
          </a:prstGeom>
          <a:solidFill>
            <a:srgbClr val="F4F4F4"/>
          </a:solidFill>
          <a:ln w="6350">
            <a:solidFill>
              <a:srgbClr val="CCCCCC"/>
            </a:solidFill>
            <a:prstDash val="solid"/>
          </a:ln>
        </p:spPr>
      </p:sp>
      <p:sp>
        <p:nvSpPr>
          <p:cNvPr id="18" name="Text 16"/>
          <p:cNvSpPr txBox="1"/>
          <p:nvPr/>
        </p:nvSpPr>
        <p:spPr>
          <a:xfrm>
            <a:off x="3858768" y="1792224"/>
            <a:ext cx="4919472" cy="237744"/>
          </a:xfrm>
          <a:prstGeom prst="rect">
            <a:avLst/>
          </a:prstGeom>
          <a:noFill/>
          <a:ln/>
        </p:spPr>
        <p:txBody>
          <a:bodyPr wrap="square" lIns="0" tIns="0" rIns="0" bIns="0" rtlCol="0" anchor="t"/>
          <a:lstStyle/>
          <a:p>
            <a:pPr algn="l" indent="0" marL="0">
              <a:buNone/>
            </a:pPr>
            <a:r>
              <a:rPr lang="en-US" sz="1050" b="1" dirty="0">
                <a:solidFill>
                  <a:srgbClr val="1A1A1A"/>
                </a:solidFill>
              </a:rPr>
              <a:t>📣  Share Finance-relevant best practices</a:t>
            </a:r>
            <a:endParaRPr lang="en-US" sz="1050" dirty="0"/>
          </a:p>
        </p:txBody>
      </p:sp>
      <p:sp>
        <p:nvSpPr>
          <p:cNvPr id="19" name="Text 17"/>
          <p:cNvSpPr txBox="1"/>
          <p:nvPr/>
        </p:nvSpPr>
        <p:spPr>
          <a:xfrm>
            <a:off x="3858768" y="2057400"/>
            <a:ext cx="4919472" cy="502920"/>
          </a:xfrm>
          <a:prstGeom prst="rect">
            <a:avLst/>
          </a:prstGeom>
          <a:noFill/>
          <a:ln/>
        </p:spPr>
        <p:txBody>
          <a:bodyPr wrap="square" lIns="0" tIns="0" rIns="0" bIns="0" rtlCol="0" anchor="t"/>
          <a:lstStyle/>
          <a:p>
            <a:pPr algn="l" indent="0" marL="0">
              <a:buNone/>
            </a:pPr>
            <a:r>
              <a:rPr lang="en-US" sz="950" dirty="0">
                <a:solidFill>
                  <a:srgbClr val="555555"/>
                </a:solidFill>
              </a:rPr>
              <a:t>Write better Copilot prompts for Finance tasks · Update &amp; automate PowerPoints · Build Power Automate workflows · Share Power Query tips across the team</a:t>
            </a:r>
            <a:endParaRPr lang="en-US" sz="950" dirty="0"/>
          </a:p>
        </p:txBody>
      </p:sp>
      <p:sp>
        <p:nvSpPr>
          <p:cNvPr id="20" name="Shape 18"/>
          <p:cNvSpPr/>
          <p:nvPr/>
        </p:nvSpPr>
        <p:spPr>
          <a:xfrm>
            <a:off x="3703320" y="2724912"/>
            <a:ext cx="5230368" cy="886968"/>
          </a:xfrm>
          <a:prstGeom prst="roundRect">
            <a:avLst>
              <a:gd name="adj" fmla="val 5155"/>
            </a:avLst>
          </a:prstGeom>
          <a:solidFill>
            <a:srgbClr val="F4F4F4"/>
          </a:solidFill>
          <a:ln w="6350">
            <a:solidFill>
              <a:srgbClr val="CCCCCC"/>
            </a:solidFill>
            <a:prstDash val="solid"/>
          </a:ln>
        </p:spPr>
      </p:sp>
      <p:sp>
        <p:nvSpPr>
          <p:cNvPr id="21" name="Text 19"/>
          <p:cNvSpPr txBox="1"/>
          <p:nvPr/>
        </p:nvSpPr>
        <p:spPr>
          <a:xfrm>
            <a:off x="3858768" y="2779776"/>
            <a:ext cx="4919472" cy="237744"/>
          </a:xfrm>
          <a:prstGeom prst="rect">
            <a:avLst/>
          </a:prstGeom>
          <a:noFill/>
          <a:ln/>
        </p:spPr>
        <p:txBody>
          <a:bodyPr wrap="square" lIns="0" tIns="0" rIns="0" bIns="0" rtlCol="0" anchor="t"/>
          <a:lstStyle/>
          <a:p>
            <a:pPr algn="l" indent="0" marL="0">
              <a:buNone/>
            </a:pPr>
            <a:r>
              <a:rPr lang="en-US" sz="1050" b="1" dirty="0">
                <a:solidFill>
                  <a:srgbClr val="1A1A1A"/>
                </a:solidFill>
              </a:rPr>
              <a:t>🔄  Feed back what's not working</a:t>
            </a:r>
            <a:endParaRPr lang="en-US" sz="1050" dirty="0"/>
          </a:p>
        </p:txBody>
      </p:sp>
      <p:sp>
        <p:nvSpPr>
          <p:cNvPr id="22" name="Text 20"/>
          <p:cNvSpPr txBox="1"/>
          <p:nvPr/>
        </p:nvSpPr>
        <p:spPr>
          <a:xfrm>
            <a:off x="3858768" y="3044952"/>
            <a:ext cx="4919472" cy="502920"/>
          </a:xfrm>
          <a:prstGeom prst="rect">
            <a:avLst/>
          </a:prstGeom>
          <a:noFill/>
          <a:ln/>
        </p:spPr>
        <p:txBody>
          <a:bodyPr wrap="square" lIns="0" tIns="0" rIns="0" bIns="0" rtlCol="0" anchor="t"/>
          <a:lstStyle/>
          <a:p>
            <a:pPr algn="l" indent="0" marL="0">
              <a:buNone/>
            </a:pPr>
            <a:r>
              <a:rPr lang="en-US" sz="950" dirty="0">
                <a:solidFill>
                  <a:srgbClr val="555555"/>
                </a:solidFill>
              </a:rPr>
              <a:t>If a tool or rollout doesn't suit how Finance operates — you capture it and send it back to Workplace Services. You shape adoption, not just receive it.</a:t>
            </a:r>
            <a:endParaRPr lang="en-US" sz="950" dirty="0"/>
          </a:p>
        </p:txBody>
      </p:sp>
      <p:sp>
        <p:nvSpPr>
          <p:cNvPr id="23" name="Shape 21"/>
          <p:cNvSpPr/>
          <p:nvPr/>
        </p:nvSpPr>
        <p:spPr>
          <a:xfrm>
            <a:off x="3703320" y="3712464"/>
            <a:ext cx="5230368" cy="886968"/>
          </a:xfrm>
          <a:prstGeom prst="roundRect">
            <a:avLst>
              <a:gd name="adj" fmla="val 5155"/>
            </a:avLst>
          </a:prstGeom>
          <a:solidFill>
            <a:srgbClr val="F4F4F4"/>
          </a:solidFill>
          <a:ln w="6350">
            <a:solidFill>
              <a:srgbClr val="CCCCCC"/>
            </a:solidFill>
            <a:prstDash val="solid"/>
          </a:ln>
        </p:spPr>
      </p:sp>
      <p:sp>
        <p:nvSpPr>
          <p:cNvPr id="24" name="Text 22"/>
          <p:cNvSpPr txBox="1"/>
          <p:nvPr/>
        </p:nvSpPr>
        <p:spPr>
          <a:xfrm>
            <a:off x="3858768" y="3767328"/>
            <a:ext cx="4919472" cy="237744"/>
          </a:xfrm>
          <a:prstGeom prst="rect">
            <a:avLst/>
          </a:prstGeom>
          <a:noFill/>
          <a:ln/>
        </p:spPr>
        <p:txBody>
          <a:bodyPr wrap="square" lIns="0" tIns="0" rIns="0" bIns="0" rtlCol="0" anchor="t"/>
          <a:lstStyle/>
          <a:p>
            <a:pPr algn="l" indent="0" marL="0">
              <a:buNone/>
            </a:pPr>
            <a:r>
              <a:rPr lang="en-US" sz="1050" b="1" dirty="0">
                <a:solidFill>
                  <a:srgbClr val="1A1A1A"/>
                </a:solidFill>
              </a:rPr>
              <a:t>🧪  Get early access &amp; stay ahead</a:t>
            </a:r>
            <a:endParaRPr lang="en-US" sz="1050" dirty="0"/>
          </a:p>
        </p:txBody>
      </p:sp>
      <p:sp>
        <p:nvSpPr>
          <p:cNvPr id="25" name="Text 23"/>
          <p:cNvSpPr txBox="1"/>
          <p:nvPr/>
        </p:nvSpPr>
        <p:spPr>
          <a:xfrm>
            <a:off x="3858768" y="4032504"/>
            <a:ext cx="4919472" cy="502920"/>
          </a:xfrm>
          <a:prstGeom prst="rect">
            <a:avLst/>
          </a:prstGeom>
          <a:noFill/>
          <a:ln/>
        </p:spPr>
        <p:txBody>
          <a:bodyPr wrap="square" lIns="0" tIns="0" rIns="0" bIns="0" rtlCol="0" anchor="t"/>
          <a:lstStyle/>
          <a:p>
            <a:pPr algn="l" indent="0" marL="0">
              <a:buNone/>
            </a:pPr>
            <a:r>
              <a:rPr lang="en-US" sz="950" dirty="0">
                <a:solidFill>
                  <a:srgbClr val="555555"/>
                </a:solidFill>
              </a:rPr>
              <a:t>Join pilots, test new features before general rollout, attend bi-monthly walk-in sessions — and bring those insights back to the team</a:t>
            </a:r>
            <a:endParaRPr lang="en-US" sz="950" dirty="0"/>
          </a:p>
        </p:txBody>
      </p:sp>
      <p:sp>
        <p:nvSpPr>
          <p:cNvPr id="26" name="Shape 24"/>
          <p:cNvSpPr/>
          <p:nvPr/>
        </p:nvSpPr>
        <p:spPr>
          <a:xfrm>
            <a:off x="0" y="4800600"/>
            <a:ext cx="9144000" cy="342900"/>
          </a:xfrm>
          <a:prstGeom prst="rect">
            <a:avLst/>
          </a:prstGeom>
          <a:solidFill>
            <a:srgbClr val="1A1A1A"/>
          </a:solidFill>
          <a:ln/>
        </p:spPr>
      </p:sp>
      <p:sp>
        <p:nvSpPr>
          <p:cNvPr id="27" name="Text 25"/>
          <p:cNvSpPr txBox="1"/>
          <p:nvPr/>
        </p:nvSpPr>
        <p:spPr>
          <a:xfrm>
            <a:off x="182880" y="4828032"/>
            <a:ext cx="8778240" cy="292608"/>
          </a:xfrm>
          <a:prstGeom prst="rect">
            <a:avLst/>
          </a:prstGeom>
          <a:noFill/>
          <a:ln/>
        </p:spPr>
        <p:txBody>
          <a:bodyPr wrap="square" lIns="0" tIns="0" rIns="0" bIns="0" rtlCol="0" anchor="ctr"/>
          <a:lstStyle/>
          <a:p>
            <a:pPr algn="l" indent="0" marL="0">
              <a:buNone/>
            </a:pPr>
            <a:r>
              <a:rPr lang="en-US" sz="900" dirty="0">
                <a:solidFill>
                  <a:srgbClr val="FFFFFF"/>
                </a:solidFill>
              </a:rPr>
              <a:t>ING Finance APAC  |  Digital Workplace Ambassador Programme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F6200"/>
          </a:solidFill>
          <a:ln/>
        </p:spPr>
      </p:sp>
      <p:sp>
        <p:nvSpPr>
          <p:cNvPr id="3" name="Text 1"/>
          <p:cNvSpPr txBox="1"/>
          <p:nvPr/>
        </p:nvSpPr>
        <p:spPr>
          <a:xfrm>
            <a:off x="228600" y="91440"/>
            <a:ext cx="8686800" cy="475488"/>
          </a:xfrm>
          <a:prstGeom prst="rect">
            <a:avLst/>
          </a:prstGeom>
          <a:noFill/>
          <a:ln/>
        </p:spPr>
        <p:txBody>
          <a:bodyPr wrap="square" lIns="0" tIns="0" rIns="0" bIns="0" rtlCol="0" anchor="ctr"/>
          <a:lstStyle/>
          <a:p>
            <a:pPr algn="l" indent="0" marL="0">
              <a:buNone/>
            </a:pPr>
            <a:r>
              <a:rPr lang="en-US" sz="2100" b="1" dirty="0">
                <a:solidFill>
                  <a:srgbClr val="FFFFFF"/>
                </a:solidFill>
              </a:rPr>
              <a:t>What You Get  ·  Why Join  ·  Sign Up</a:t>
            </a:r>
            <a:endParaRPr lang="en-US" sz="2100" dirty="0"/>
          </a:p>
        </p:txBody>
      </p:sp>
      <p:sp>
        <p:nvSpPr>
          <p:cNvPr id="4" name="Text 2"/>
          <p:cNvSpPr txBox="1"/>
          <p:nvPr/>
        </p:nvSpPr>
        <p:spPr>
          <a:xfrm>
            <a:off x="274320" y="777240"/>
            <a:ext cx="8595360" cy="320040"/>
          </a:xfrm>
          <a:prstGeom prst="rect">
            <a:avLst/>
          </a:prstGeom>
          <a:noFill/>
          <a:ln/>
        </p:spPr>
        <p:txBody>
          <a:bodyPr wrap="square" lIns="0" tIns="0" rIns="0" bIns="0" rtlCol="0" anchor="ctr"/>
          <a:lstStyle/>
          <a:p>
            <a:pPr indent="0" marL="0">
              <a:buNone/>
            </a:pPr>
            <a:r>
              <a:rPr lang="en-US" sz="1300" b="1" dirty="0">
                <a:solidFill>
                  <a:srgbClr val="FF6200"/>
                </a:solidFill>
              </a:rPr>
              <a:t>What you get as an Ambassador</a:t>
            </a:r>
            <a:endParaRPr lang="en-US" sz="1300" dirty="0"/>
          </a:p>
        </p:txBody>
      </p:sp>
      <p:sp>
        <p:nvSpPr>
          <p:cNvPr id="5" name="Shape 3"/>
          <p:cNvSpPr/>
          <p:nvPr/>
        </p:nvSpPr>
        <p:spPr>
          <a:xfrm>
            <a:off x="274320" y="1188720"/>
            <a:ext cx="4187952" cy="868680"/>
          </a:xfrm>
          <a:prstGeom prst="roundRect">
            <a:avLst>
              <a:gd name="adj" fmla="val 5263"/>
            </a:avLst>
          </a:prstGeom>
          <a:solidFill>
            <a:srgbClr val="F4F4F4"/>
          </a:solidFill>
          <a:ln w="6350">
            <a:solidFill>
              <a:srgbClr val="CCCCCC"/>
            </a:solidFill>
            <a:prstDash val="solid"/>
          </a:ln>
        </p:spPr>
      </p:sp>
      <p:sp>
        <p:nvSpPr>
          <p:cNvPr id="6" name="Text 4"/>
          <p:cNvSpPr txBox="1"/>
          <p:nvPr/>
        </p:nvSpPr>
        <p:spPr>
          <a:xfrm>
            <a:off x="411480" y="1252728"/>
            <a:ext cx="3931920" cy="274320"/>
          </a:xfrm>
          <a:prstGeom prst="rect">
            <a:avLst/>
          </a:prstGeom>
          <a:noFill/>
          <a:ln/>
        </p:spPr>
        <p:txBody>
          <a:bodyPr wrap="square" lIns="0" tIns="0" rIns="0" bIns="0" rtlCol="0" anchor="ctr"/>
          <a:lstStyle/>
          <a:p>
            <a:pPr algn="l" indent="0" marL="0">
              <a:buNone/>
            </a:pPr>
            <a:r>
              <a:rPr lang="en-US" sz="1150" b="1" dirty="0">
                <a:solidFill>
                  <a:srgbClr val="1A1A1A"/>
                </a:solidFill>
              </a:rPr>
              <a:t>💬  Viva Engage community</a:t>
            </a:r>
            <a:endParaRPr lang="en-US" sz="1150" dirty="0"/>
          </a:p>
        </p:txBody>
      </p:sp>
      <p:sp>
        <p:nvSpPr>
          <p:cNvPr id="7" name="Text 5"/>
          <p:cNvSpPr txBox="1"/>
          <p:nvPr/>
        </p:nvSpPr>
        <p:spPr>
          <a:xfrm>
            <a:off x="411480" y="1554480"/>
            <a:ext cx="3931920" cy="420624"/>
          </a:xfrm>
          <a:prstGeom prst="rect">
            <a:avLst/>
          </a:prstGeom>
          <a:noFill/>
          <a:ln/>
        </p:spPr>
        <p:txBody>
          <a:bodyPr wrap="square" lIns="0" tIns="0" rIns="0" bIns="0" rtlCol="0" anchor="ctr"/>
          <a:lstStyle/>
          <a:p>
            <a:pPr algn="l" indent="0" marL="0">
              <a:buNone/>
            </a:pPr>
            <a:r>
              <a:rPr lang="en-US" sz="1000" dirty="0">
                <a:solidFill>
                  <a:srgbClr val="555555"/>
                </a:solidFill>
              </a:rPr>
              <a:t>Global network to ask questions, share ideas, get tips and connect with 1,700+ peers across ING</a:t>
            </a:r>
            <a:endParaRPr lang="en-US" sz="1000" dirty="0"/>
          </a:p>
        </p:txBody>
      </p:sp>
      <p:sp>
        <p:nvSpPr>
          <p:cNvPr id="8" name="Shape 6"/>
          <p:cNvSpPr/>
          <p:nvPr/>
        </p:nvSpPr>
        <p:spPr>
          <a:xfrm>
            <a:off x="4681728" y="1188720"/>
            <a:ext cx="4187952" cy="868680"/>
          </a:xfrm>
          <a:prstGeom prst="roundRect">
            <a:avLst>
              <a:gd name="adj" fmla="val 5263"/>
            </a:avLst>
          </a:prstGeom>
          <a:solidFill>
            <a:srgbClr val="F4F4F4"/>
          </a:solidFill>
          <a:ln w="6350">
            <a:solidFill>
              <a:srgbClr val="CCCCCC"/>
            </a:solidFill>
            <a:prstDash val="solid"/>
          </a:ln>
        </p:spPr>
      </p:sp>
      <p:sp>
        <p:nvSpPr>
          <p:cNvPr id="9" name="Text 7"/>
          <p:cNvSpPr txBox="1"/>
          <p:nvPr/>
        </p:nvSpPr>
        <p:spPr>
          <a:xfrm>
            <a:off x="4818888" y="1252728"/>
            <a:ext cx="3931920" cy="274320"/>
          </a:xfrm>
          <a:prstGeom prst="rect">
            <a:avLst/>
          </a:prstGeom>
          <a:noFill/>
          <a:ln/>
        </p:spPr>
        <p:txBody>
          <a:bodyPr wrap="square" lIns="0" tIns="0" rIns="0" bIns="0" rtlCol="0" anchor="ctr"/>
          <a:lstStyle/>
          <a:p>
            <a:pPr algn="l" indent="0" marL="0">
              <a:buNone/>
            </a:pPr>
            <a:r>
              <a:rPr lang="en-US" sz="1150" b="1" dirty="0">
                <a:solidFill>
                  <a:srgbClr val="1A1A1A"/>
                </a:solidFill>
              </a:rPr>
              <a:t>📅  Bi-monthly walk-in sessions</a:t>
            </a:r>
            <a:endParaRPr lang="en-US" sz="1150" dirty="0"/>
          </a:p>
        </p:txBody>
      </p:sp>
      <p:sp>
        <p:nvSpPr>
          <p:cNvPr id="10" name="Text 8"/>
          <p:cNvSpPr txBox="1"/>
          <p:nvPr/>
        </p:nvSpPr>
        <p:spPr>
          <a:xfrm>
            <a:off x="4818888" y="1554480"/>
            <a:ext cx="3931920" cy="420624"/>
          </a:xfrm>
          <a:prstGeom prst="rect">
            <a:avLst/>
          </a:prstGeom>
          <a:noFill/>
          <a:ln/>
        </p:spPr>
        <p:txBody>
          <a:bodyPr wrap="square" lIns="0" tIns="0" rIns="0" bIns="0" rtlCol="0" anchor="ctr"/>
          <a:lstStyle/>
          <a:p>
            <a:pPr algn="l" indent="0" marL="0">
              <a:buNone/>
            </a:pPr>
            <a:r>
              <a:rPr lang="en-US" sz="1000" dirty="0">
                <a:solidFill>
                  <a:srgbClr val="555555"/>
                </a:solidFill>
              </a:rPr>
              <a:t>Live updates on newest M365 features — two time slots to cover all time zones</a:t>
            </a:r>
            <a:endParaRPr lang="en-US" sz="1000" dirty="0"/>
          </a:p>
        </p:txBody>
      </p:sp>
      <p:sp>
        <p:nvSpPr>
          <p:cNvPr id="11" name="Shape 9"/>
          <p:cNvSpPr/>
          <p:nvPr/>
        </p:nvSpPr>
        <p:spPr>
          <a:xfrm>
            <a:off x="274320" y="2176272"/>
            <a:ext cx="4187952" cy="868680"/>
          </a:xfrm>
          <a:prstGeom prst="roundRect">
            <a:avLst>
              <a:gd name="adj" fmla="val 5263"/>
            </a:avLst>
          </a:prstGeom>
          <a:solidFill>
            <a:srgbClr val="F4F4F4"/>
          </a:solidFill>
          <a:ln w="6350">
            <a:solidFill>
              <a:srgbClr val="CCCCCC"/>
            </a:solidFill>
            <a:prstDash val="solid"/>
          </a:ln>
        </p:spPr>
      </p:sp>
      <p:sp>
        <p:nvSpPr>
          <p:cNvPr id="12" name="Text 10"/>
          <p:cNvSpPr txBox="1"/>
          <p:nvPr/>
        </p:nvSpPr>
        <p:spPr>
          <a:xfrm>
            <a:off x="411480" y="2240280"/>
            <a:ext cx="3931920" cy="274320"/>
          </a:xfrm>
          <a:prstGeom prst="rect">
            <a:avLst/>
          </a:prstGeom>
          <a:noFill/>
          <a:ln/>
        </p:spPr>
        <p:txBody>
          <a:bodyPr wrap="square" lIns="0" tIns="0" rIns="0" bIns="0" rtlCol="0" anchor="ctr"/>
          <a:lstStyle/>
          <a:p>
            <a:pPr algn="l" indent="0" marL="0">
              <a:buNone/>
            </a:pPr>
            <a:r>
              <a:rPr lang="en-US" sz="1150" b="1" dirty="0">
                <a:solidFill>
                  <a:srgbClr val="1A1A1A"/>
                </a:solidFill>
              </a:rPr>
              <a:t>🚀  Early access to new tools</a:t>
            </a:r>
            <a:endParaRPr lang="en-US" sz="1150" dirty="0"/>
          </a:p>
        </p:txBody>
      </p:sp>
      <p:sp>
        <p:nvSpPr>
          <p:cNvPr id="13" name="Text 11"/>
          <p:cNvSpPr txBox="1"/>
          <p:nvPr/>
        </p:nvSpPr>
        <p:spPr>
          <a:xfrm>
            <a:off x="411480" y="2542032"/>
            <a:ext cx="3931920" cy="420624"/>
          </a:xfrm>
          <a:prstGeom prst="rect">
            <a:avLst/>
          </a:prstGeom>
          <a:noFill/>
          <a:ln/>
        </p:spPr>
        <p:txBody>
          <a:bodyPr wrap="square" lIns="0" tIns="0" rIns="0" bIns="0" rtlCol="0" anchor="ctr"/>
          <a:lstStyle/>
          <a:p>
            <a:pPr algn="l" indent="0" marL="0">
              <a:buNone/>
            </a:pPr>
            <a:r>
              <a:rPr lang="en-US" sz="1000" dirty="0">
                <a:solidFill>
                  <a:srgbClr val="555555"/>
                </a:solidFill>
              </a:rPr>
              <a:t>First to pilot and test new digital workplace features before general rollout</a:t>
            </a:r>
            <a:endParaRPr lang="en-US" sz="1000" dirty="0"/>
          </a:p>
        </p:txBody>
      </p:sp>
      <p:sp>
        <p:nvSpPr>
          <p:cNvPr id="14" name="Shape 12"/>
          <p:cNvSpPr/>
          <p:nvPr/>
        </p:nvSpPr>
        <p:spPr>
          <a:xfrm>
            <a:off x="4681728" y="2176272"/>
            <a:ext cx="4187952" cy="868680"/>
          </a:xfrm>
          <a:prstGeom prst="roundRect">
            <a:avLst>
              <a:gd name="adj" fmla="val 5263"/>
            </a:avLst>
          </a:prstGeom>
          <a:solidFill>
            <a:srgbClr val="F4F4F4"/>
          </a:solidFill>
          <a:ln w="6350">
            <a:solidFill>
              <a:srgbClr val="CCCCCC"/>
            </a:solidFill>
            <a:prstDash val="solid"/>
          </a:ln>
        </p:spPr>
      </p:sp>
      <p:sp>
        <p:nvSpPr>
          <p:cNvPr id="15" name="Text 13"/>
          <p:cNvSpPr txBox="1"/>
          <p:nvPr/>
        </p:nvSpPr>
        <p:spPr>
          <a:xfrm>
            <a:off x="4818888" y="2240280"/>
            <a:ext cx="3931920" cy="274320"/>
          </a:xfrm>
          <a:prstGeom prst="rect">
            <a:avLst/>
          </a:prstGeom>
          <a:noFill/>
          <a:ln/>
        </p:spPr>
        <p:txBody>
          <a:bodyPr wrap="square" lIns="0" tIns="0" rIns="0" bIns="0" rtlCol="0" anchor="ctr"/>
          <a:lstStyle/>
          <a:p>
            <a:pPr algn="l" indent="0" marL="0">
              <a:buNone/>
            </a:pPr>
            <a:r>
              <a:rPr lang="en-US" sz="1150" b="1" dirty="0">
                <a:solidFill>
                  <a:srgbClr val="1A1A1A"/>
                </a:solidFill>
              </a:rPr>
              <a:t>🎓  Training &amp; weekly tips</a:t>
            </a:r>
            <a:endParaRPr lang="en-US" sz="1150" dirty="0"/>
          </a:p>
        </p:txBody>
      </p:sp>
      <p:sp>
        <p:nvSpPr>
          <p:cNvPr id="16" name="Text 14"/>
          <p:cNvSpPr txBox="1"/>
          <p:nvPr/>
        </p:nvSpPr>
        <p:spPr>
          <a:xfrm>
            <a:off x="4818888" y="2542032"/>
            <a:ext cx="3931920" cy="420624"/>
          </a:xfrm>
          <a:prstGeom prst="rect">
            <a:avLst/>
          </a:prstGeom>
          <a:noFill/>
          <a:ln/>
        </p:spPr>
        <p:txBody>
          <a:bodyPr wrap="square" lIns="0" tIns="0" rIns="0" bIns="0" rtlCol="0" anchor="ctr"/>
          <a:lstStyle/>
          <a:p>
            <a:pPr algn="l" indent="0" marL="0">
              <a:buNone/>
            </a:pPr>
            <a:r>
              <a:rPr lang="en-US" sz="1000" dirty="0">
                <a:solidFill>
                  <a:srgbClr val="555555"/>
                </a:solidFill>
              </a:rPr>
              <a:t>Training calendar, MS365 sessions for you and your team, and regular feature tips pushed to you</a:t>
            </a:r>
            <a:endParaRPr lang="en-US" sz="1000" dirty="0"/>
          </a:p>
        </p:txBody>
      </p:sp>
      <p:sp>
        <p:nvSpPr>
          <p:cNvPr id="17" name="Shape 15"/>
          <p:cNvSpPr/>
          <p:nvPr/>
        </p:nvSpPr>
        <p:spPr>
          <a:xfrm>
            <a:off x="274320" y="3200400"/>
            <a:ext cx="8595360" cy="27432"/>
          </a:xfrm>
          <a:prstGeom prst="rect">
            <a:avLst/>
          </a:prstGeom>
          <a:solidFill>
            <a:srgbClr val="CCCCCC"/>
          </a:solidFill>
          <a:ln/>
        </p:spPr>
      </p:sp>
      <p:sp>
        <p:nvSpPr>
          <p:cNvPr id="18" name="Text 16"/>
          <p:cNvSpPr txBox="1"/>
          <p:nvPr/>
        </p:nvSpPr>
        <p:spPr>
          <a:xfrm>
            <a:off x="274320" y="3310128"/>
            <a:ext cx="5029200" cy="292608"/>
          </a:xfrm>
          <a:prstGeom prst="rect">
            <a:avLst/>
          </a:prstGeom>
          <a:noFill/>
          <a:ln/>
        </p:spPr>
        <p:txBody>
          <a:bodyPr wrap="square" lIns="0" tIns="0" rIns="0" bIns="0" rtlCol="0" anchor="ctr"/>
          <a:lstStyle/>
          <a:p>
            <a:pPr indent="0" marL="0">
              <a:buNone/>
            </a:pPr>
            <a:r>
              <a:rPr lang="en-US" sz="1300" b="1" dirty="0">
                <a:solidFill>
                  <a:srgbClr val="FF6200"/>
                </a:solidFill>
              </a:rPr>
              <a:t>Make your role visible</a:t>
            </a:r>
            <a:endParaRPr lang="en-US" sz="1300" dirty="0"/>
          </a:p>
        </p:txBody>
      </p:sp>
      <p:sp>
        <p:nvSpPr>
          <p:cNvPr id="19" name="Text 17"/>
          <p:cNvSpPr txBox="1"/>
          <p:nvPr/>
        </p:nvSpPr>
        <p:spPr>
          <a:xfrm>
            <a:off x="365760" y="3703320"/>
            <a:ext cx="4754880" cy="274320"/>
          </a:xfrm>
          <a:prstGeom prst="rect">
            <a:avLst/>
          </a:prstGeom>
          <a:noFill/>
          <a:ln/>
        </p:spPr>
        <p:txBody>
          <a:bodyPr wrap="square" lIns="0" tIns="0" rIns="0" bIns="0" rtlCol="0" anchor="ctr"/>
          <a:lstStyle/>
          <a:p>
            <a:pPr algn="l" indent="0" marL="0">
              <a:buNone/>
            </a:pPr>
            <a:r>
              <a:rPr lang="en-US" sz="1050" dirty="0">
                <a:solidFill>
                  <a:srgbClr val="1A1A1A"/>
                </a:solidFill>
              </a:rPr>
              <a:t>🖼️  Set an Ambassador Teams background — visible in every meeting</a:t>
            </a:r>
            <a:endParaRPr lang="en-US" sz="1050" dirty="0"/>
          </a:p>
        </p:txBody>
      </p:sp>
      <p:sp>
        <p:nvSpPr>
          <p:cNvPr id="20" name="Text 18"/>
          <p:cNvSpPr txBox="1"/>
          <p:nvPr/>
        </p:nvSpPr>
        <p:spPr>
          <a:xfrm>
            <a:off x="365760" y="4032504"/>
            <a:ext cx="4754880" cy="274320"/>
          </a:xfrm>
          <a:prstGeom prst="rect">
            <a:avLst/>
          </a:prstGeom>
          <a:noFill/>
          <a:ln/>
        </p:spPr>
        <p:txBody>
          <a:bodyPr wrap="square" lIns="0" tIns="0" rIns="0" bIns="0" rtlCol="0" anchor="ctr"/>
          <a:lstStyle/>
          <a:p>
            <a:pPr algn="l" indent="0" marL="0">
              <a:buNone/>
            </a:pPr>
            <a:r>
              <a:rPr lang="en-US" sz="1050" dirty="0">
                <a:solidFill>
                  <a:srgbClr val="1A1A1A"/>
                </a:solidFill>
              </a:rPr>
              <a:t>💬  Add "I am a Digital Workplace Ambassador" as your Teams status message</a:t>
            </a:r>
            <a:endParaRPr lang="en-US" sz="1050" dirty="0"/>
          </a:p>
        </p:txBody>
      </p:sp>
      <p:sp>
        <p:nvSpPr>
          <p:cNvPr id="21" name="Text 19"/>
          <p:cNvSpPr txBox="1"/>
          <p:nvPr/>
        </p:nvSpPr>
        <p:spPr>
          <a:xfrm>
            <a:off x="365760" y="4361688"/>
            <a:ext cx="4754880" cy="274320"/>
          </a:xfrm>
          <a:prstGeom prst="rect">
            <a:avLst/>
          </a:prstGeom>
          <a:noFill/>
          <a:ln/>
        </p:spPr>
        <p:txBody>
          <a:bodyPr wrap="square" lIns="0" tIns="0" rIns="0" bIns="0" rtlCol="0" anchor="ctr"/>
          <a:lstStyle/>
          <a:p>
            <a:pPr algn="l" indent="0" marL="0">
              <a:buNone/>
            </a:pPr>
            <a:r>
              <a:rPr lang="en-US" sz="1050" dirty="0">
                <a:solidFill>
                  <a:srgbClr val="1A1A1A"/>
                </a:solidFill>
              </a:rPr>
              <a:t>📢  Share tips in team meetings, emails, or short videos</a:t>
            </a:r>
            <a:endParaRPr lang="en-US" sz="1050" dirty="0"/>
          </a:p>
        </p:txBody>
      </p:sp>
      <p:sp>
        <p:nvSpPr>
          <p:cNvPr id="22" name="Shape 20"/>
          <p:cNvSpPr/>
          <p:nvPr/>
        </p:nvSpPr>
        <p:spPr>
          <a:xfrm>
            <a:off x="5394960" y="3246120"/>
            <a:ext cx="3520440" cy="1298448"/>
          </a:xfrm>
          <a:prstGeom prst="roundRect">
            <a:avLst>
              <a:gd name="adj" fmla="val 5634"/>
            </a:avLst>
          </a:prstGeom>
          <a:solidFill>
            <a:srgbClr val="1A1A1A"/>
          </a:solidFill>
          <a:ln/>
        </p:spPr>
      </p:sp>
      <p:sp>
        <p:nvSpPr>
          <p:cNvPr id="23" name="Text 21"/>
          <p:cNvSpPr txBox="1"/>
          <p:nvPr/>
        </p:nvSpPr>
        <p:spPr>
          <a:xfrm>
            <a:off x="5532120" y="3364992"/>
            <a:ext cx="3246120" cy="292608"/>
          </a:xfrm>
          <a:prstGeom prst="rect">
            <a:avLst/>
          </a:prstGeom>
          <a:noFill/>
          <a:ln/>
        </p:spPr>
        <p:txBody>
          <a:bodyPr wrap="square" lIns="0" tIns="0" rIns="0" bIns="0" rtlCol="0" anchor="ctr"/>
          <a:lstStyle/>
          <a:p>
            <a:pPr algn="ctr" indent="0" marL="0">
              <a:buNone/>
            </a:pPr>
            <a:r>
              <a:rPr lang="en-US" sz="1300" b="1" dirty="0">
                <a:solidFill>
                  <a:srgbClr val="FF6200"/>
                </a:solidFill>
              </a:rPr>
              <a:t>Ready to join?</a:t>
            </a:r>
            <a:endParaRPr lang="en-US" sz="1300" dirty="0"/>
          </a:p>
        </p:txBody>
      </p:sp>
      <p:sp>
        <p:nvSpPr>
          <p:cNvPr id="24" name="Text 22"/>
          <p:cNvSpPr txBox="1"/>
          <p:nvPr/>
        </p:nvSpPr>
        <p:spPr>
          <a:xfrm>
            <a:off x="5532120" y="3703320"/>
            <a:ext cx="3246120" cy="411480"/>
          </a:xfrm>
          <a:prstGeom prst="rect">
            <a:avLst/>
          </a:prstGeom>
          <a:noFill/>
          <a:ln/>
        </p:spPr>
        <p:txBody>
          <a:bodyPr wrap="square" lIns="0" tIns="0" rIns="0" bIns="0" rtlCol="0" anchor="ctr"/>
          <a:lstStyle/>
          <a:p>
            <a:pPr algn="ctr" indent="0" marL="0">
              <a:buNone/>
            </a:pPr>
            <a:r>
              <a:rPr lang="en-US" sz="950" dirty="0">
                <a:solidFill>
                  <a:srgbClr val="FFFFFF"/>
                </a:solidFill>
              </a:rPr>
              <a:t>Sign up via the ING Intranet</a:t>
            </a:r>
            <a:endParaRPr lang="en-US" sz="950" dirty="0"/>
          </a:p>
          <a:p>
            <a:pPr algn="ctr" indent="0" marL="0">
              <a:buNone/>
            </a:pPr>
            <a:r>
              <a:rPr lang="en-US" sz="950" dirty="0">
                <a:solidFill>
                  <a:srgbClr val="FFFFFF"/>
                </a:solidFill>
              </a:rPr>
              <a:t>Contact: ambassador.programme@ing.com</a:t>
            </a:r>
            <a:endParaRPr lang="en-US" sz="950" dirty="0"/>
          </a:p>
        </p:txBody>
      </p:sp>
      <p:sp>
        <p:nvSpPr>
          <p:cNvPr id="25" name="Text 23">
            <a:hlinkClick r:id="rId1" tooltip=""/>
          </p:cNvPr>
          <p:cNvSpPr txBox="1"/>
          <p:nvPr/>
        </p:nvSpPr>
        <p:spPr>
          <a:xfrm>
            <a:off x="5760720" y="4160520"/>
            <a:ext cx="2834640" cy="256032"/>
          </a:xfrm>
          <a:prstGeom prst="rect">
            <a:avLst/>
          </a:prstGeom>
          <a:noFill/>
          <a:ln/>
        </p:spPr>
        <p:txBody>
          <a:bodyPr wrap="square" lIns="0" tIns="0" rIns="0" bIns="0" rtlCol="0" anchor="ctr"/>
          <a:lstStyle/>
          <a:p>
            <a:pPr algn="ctr" indent="0" marL="0">
              <a:buNone/>
            </a:pPr>
            <a:r>
              <a:rPr lang="en-US" sz="1000" b="1" u="sng" dirty="0">
                <a:solidFill>
                  <a:srgbClr val="FF6200"/>
                </a:solidFill>
                <a:hlinkClick r:id="rId1" invalidUrl="" action="" tgtFrame="" tooltip="" history="1" highlightClick="0" endSnd="0">
                  <a:extLst>
                    <a:ext uri="{A12FA001-AC4F-418D-AE19-62706E023703}">
                      <ahyp:hlinkClr xmlns:ahyp="http://schemas.microsoft.com/office/drawing/2018/hyperlinkcolor" val="tx"/>
                    </a:ext>
                  </a:extLst>
                </a:hlinkClick>
              </a:rPr>
              <a:t>🔗  Sign up now</a:t>
            </a:r>
            <a:endParaRPr lang="en-US" sz="1000" dirty="0"/>
          </a:p>
        </p:txBody>
      </p:sp>
      <p:sp>
        <p:nvSpPr>
          <p:cNvPr id="26" name="Shape 24"/>
          <p:cNvSpPr/>
          <p:nvPr/>
        </p:nvSpPr>
        <p:spPr>
          <a:xfrm>
            <a:off x="0" y="4800600"/>
            <a:ext cx="9144000" cy="342900"/>
          </a:xfrm>
          <a:prstGeom prst="rect">
            <a:avLst/>
          </a:prstGeom>
          <a:solidFill>
            <a:srgbClr val="1A1A1A"/>
          </a:solidFill>
          <a:ln/>
        </p:spPr>
      </p:sp>
      <p:sp>
        <p:nvSpPr>
          <p:cNvPr id="27" name="Text 25"/>
          <p:cNvSpPr txBox="1"/>
          <p:nvPr/>
        </p:nvSpPr>
        <p:spPr>
          <a:xfrm>
            <a:off x="182880" y="4828032"/>
            <a:ext cx="8778240" cy="292608"/>
          </a:xfrm>
          <a:prstGeom prst="rect">
            <a:avLst/>
          </a:prstGeom>
          <a:noFill/>
          <a:ln/>
        </p:spPr>
        <p:txBody>
          <a:bodyPr wrap="square" lIns="0" tIns="0" rIns="0" bIns="0" rtlCol="0" anchor="ctr"/>
          <a:lstStyle/>
          <a:p>
            <a:pPr algn="l" indent="0" marL="0">
              <a:buNone/>
            </a:pPr>
            <a:r>
              <a:rPr lang="en-US" sz="900" dirty="0">
                <a:solidFill>
                  <a:srgbClr val="FFFFFF"/>
                </a:solidFill>
              </a:rPr>
              <a:t>ING Finance APAC  |  Digital Workplace Ambassador Programme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2026-09-21T11:19:00Z</dcterms:created>
  <dcterms:modified xsi:type="dcterms:W3CDTF">2026-09-21T11:19:00Z</dcterms:modified>
</cp:coreProperties>
</file>