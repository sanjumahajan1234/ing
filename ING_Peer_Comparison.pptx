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</c:v>
                </c:pt>
              </c:strCache>
            </c:strRef>
          </c:tx>
          <c:spPr>
            <a:ln w="3810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112</c:v>
                </c:pt>
                <c:pt idx="2">
                  <c:v>110</c:v>
                </c:pt>
                <c:pt idx="3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D1-4001-B370-48FB625C68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 Peers avg</c:v>
                </c:pt>
              </c:strCache>
            </c:strRef>
          </c:tx>
          <c:spPr>
            <a:ln w="38100" cap="flat">
              <a:solidFill>
                <a:srgbClr val="5C0A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0A14"/>
              </a:solidFill>
              <a:ln w="9525" cap="flat">
                <a:solidFill>
                  <a:srgbClr val="5C0A1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106</c:v>
                </c:pt>
                <c:pt idx="2">
                  <c:v>114</c:v>
                </c:pt>
                <c:pt idx="3">
                  <c:v>117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D1-4001-B370-48FB625C6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9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4F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4F4"/>
    </a:solidFill>
    <a:ln w="12700" cap="flat">
      <a:solidFill>
        <a:srgbClr val="DDDDDD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</c:v>
                </c:pt>
              </c:strCache>
            </c:strRef>
          </c:tx>
          <c:spPr>
            <a:ln w="3810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106</c:v>
                </c:pt>
                <c:pt idx="2">
                  <c:v>114</c:v>
                </c:pt>
                <c:pt idx="3">
                  <c:v>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5D-45A9-8F2D-7F06DC87DB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 excl. one-offs</c:v>
                </c:pt>
              </c:strCache>
            </c:strRef>
          </c:tx>
          <c:spPr>
            <a:ln w="38100" cap="flat">
              <a:solidFill>
                <a:srgbClr val="6633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33CC"/>
              </a:solidFill>
              <a:ln w="9525" cap="flat">
                <a:solidFill>
                  <a:srgbClr val="6633C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107</c:v>
                </c:pt>
                <c:pt idx="2">
                  <c:v>114</c:v>
                </c:pt>
                <c:pt idx="3">
                  <c:v>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5D-45A9-8F2D-7F06DC87DB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 Peers avg</c:v>
                </c:pt>
              </c:strCache>
            </c:strRef>
          </c:tx>
          <c:spPr>
            <a:ln w="38100" cap="flat">
              <a:solidFill>
                <a:srgbClr val="5C0A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0A14"/>
              </a:solidFill>
              <a:ln w="9525" cap="flat">
                <a:solidFill>
                  <a:srgbClr val="5C0A1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101</c:v>
                </c:pt>
                <c:pt idx="2">
                  <c:v>106</c:v>
                </c:pt>
                <c:pt idx="3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5D-45A9-8F2D-7F06DC87DB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9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4F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4F4"/>
    </a:solidFill>
    <a:ln w="12700" cap="flat">
      <a:solidFill>
        <a:srgbClr val="DDDDD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06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 is lagging behind in both income and cost development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development (rebased to 100)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347473470"/>
              </p:ext>
            </p:extLst>
          </p:nvPr>
        </p:nvGraphicFramePr>
        <p:xfrm>
          <a:off x="274320" y="86868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development (rebased to 100)</a:t>
            </a:r>
            <a:endParaRPr lang="en-US" sz="10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0" y="86868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Markets and Non-Markets income is behind peers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2011680" cy="274320"/>
          </a:xfrm>
          <a:prstGeom prst="rect">
            <a:avLst/>
          </a:prstGeom>
          <a:solidFill>
            <a:srgbClr val="5C0A14"/>
          </a:solidFill>
          <a:ln w="12700">
            <a:solidFill>
              <a:srgbClr val="5C0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income growth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6556248" cy="12131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avg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BNP Paribas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Societe Generale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Agricole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Deutsche Bank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Chartered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Barclays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solidFill>
            <a:srgbClr val="5C0A14"/>
          </a:solidFill>
          <a:ln w="12700">
            <a:solidFill>
              <a:srgbClr val="5C0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Non-Markets income growth</a:t>
            </a:r>
            <a:endParaRPr lang="en-US" sz="9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80360"/>
          <a:ext cx="6556248" cy="12131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avg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BNP Paribas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Societe Generale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Agricole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Deutsche Bank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Chartered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Barclays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income definitions  BNPP: FICC;  SocGen: FIC (Fixed Income &amp; Currencies);  Credit Agricole: Capital Markets;  Deutsche bank: Fixed Income, Currency (FIC) Sales &amp; Trading;  Standard Chartered: Global Markets (Macro &amp; Credit trading, valuation and other);  Barclays: FICC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264</Words>
  <Application>Microsoft Office PowerPoint</Application>
  <PresentationFormat>On-screen Show (16:9)</PresentationFormat>
  <Paragraphs>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Mahajan</cp:lastModifiedBy>
  <cp:revision>2</cp:revision>
  <dcterms:created xsi:type="dcterms:W3CDTF">2026-03-12T02:26:00Z</dcterms:created>
  <dcterms:modified xsi:type="dcterms:W3CDTF">2026-03-12T02:44:39Z</dcterms:modified>
</cp:coreProperties>
</file>