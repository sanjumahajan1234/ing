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84" y="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</c:v>
                </c:pt>
              </c:strCache>
            </c:strRef>
          </c:tx>
          <c:spPr>
            <a:ln w="3810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112</c:v>
                </c:pt>
                <c:pt idx="2">
                  <c:v>110</c:v>
                </c:pt>
                <c:pt idx="3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BD1-4001-B370-48FB625C68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EU Peers avg</c:v>
                </c:pt>
              </c:strCache>
            </c:strRef>
          </c:tx>
          <c:spPr>
            <a:ln w="38100" cap="flat">
              <a:solidFill>
                <a:srgbClr val="5C0A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C0A14"/>
              </a:solidFill>
              <a:ln w="9525" cap="flat">
                <a:solidFill>
                  <a:srgbClr val="5C0A1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106</c:v>
                </c:pt>
                <c:pt idx="2">
                  <c:v>114</c:v>
                </c:pt>
                <c:pt idx="3">
                  <c:v>117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BD1-4001-B370-48FB625C68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ING APAC</c:v>
                </c:pt>
              </c:strCache>
            </c:strRef>
          </c:tx>
          <c:spPr>
            <a:ln w="38100" cap="flat">
              <a:solidFill>
                <a:srgbClr val="1F77B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98</c:v>
                </c:pt>
                <c:pt idx="2">
                  <c:v>103</c:v>
                </c:pt>
                <c:pt idx="3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BD1-4001-B370-48FB625C68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"/>
          <c:min val="9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4F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4F4"/>
    </a:solidFill>
    <a:ln w="12700" cap="flat">
      <a:solidFill>
        <a:srgbClr val="DDDDDD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</c:v>
                </c:pt>
              </c:strCache>
            </c:strRef>
          </c:tx>
          <c:spPr>
            <a:ln w="38100" cap="flat">
              <a:solidFill>
                <a:srgbClr val="FF66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6600"/>
              </a:solidFill>
              <a:ln w="9525" cap="flat">
                <a:solidFill>
                  <a:srgbClr val="FF660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72-496B-8548-3012C1FE806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106</c:v>
                </c:pt>
                <c:pt idx="2">
                  <c:v>114</c:v>
                </c:pt>
                <c:pt idx="3">
                  <c:v>123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95D-45A9-8F2D-7F06DC87DB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ING excl. one-offs</c:v>
                </c:pt>
              </c:strCache>
            </c:strRef>
          </c:tx>
          <c:spPr>
            <a:ln w="38100" cap="flat">
              <a:solidFill>
                <a:srgbClr val="6633C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633CC"/>
              </a:solidFill>
              <a:ln w="9525" cap="flat">
                <a:solidFill>
                  <a:srgbClr val="6633CC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107</c:v>
                </c:pt>
                <c:pt idx="2">
                  <c:v>114</c:v>
                </c:pt>
                <c:pt idx="3">
                  <c:v>122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95D-45A9-8F2D-7F06DC87DB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 Peers avg</c:v>
                </c:pt>
              </c:strCache>
            </c:strRef>
          </c:tx>
          <c:spPr>
            <a:ln w="38100" cap="flat">
              <a:solidFill>
                <a:srgbClr val="5C0A1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C0A14"/>
              </a:solidFill>
              <a:ln w="9525" cap="flat">
                <a:solidFill>
                  <a:srgbClr val="5C0A14"/>
                </a:solidFill>
                <a:prstDash val="solid"/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2.8095623685337259E-2"/>
                  <c:y val="3.654970760233904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672-496B-8548-3012C1FE806D}"/>
                </c:ext>
              </c:extLst>
            </c:dLbl>
            <c:dLbl>
              <c:idx val="2"/>
              <c:layout>
                <c:manualLayout>
                  <c:x val="-4.2871037396921129E-2"/>
                  <c:y val="5.847953216374268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72-496B-8548-3012C1FE806D}"/>
                </c:ext>
              </c:extLst>
            </c:dLbl>
            <c:dLbl>
              <c:idx val="3"/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2101180171627482E-2"/>
                      <c:h val="9.263537781461528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9672-496B-8548-3012C1FE806D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100</c:v>
                </c:pt>
                <c:pt idx="1">
                  <c:v>101</c:v>
                </c:pt>
                <c:pt idx="2">
                  <c:v>106</c:v>
                </c:pt>
                <c:pt idx="3">
                  <c:v>108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95D-45A9-8F2D-7F06DC87DB6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ING APAC Direct Costs</c:v>
                </c:pt>
              </c:strCache>
            </c:strRef>
          </c:tx>
          <c:spPr>
            <a:ln w="38100" cap="flat">
              <a:solidFill>
                <a:srgbClr val="1F77B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F77B4"/>
              </a:solidFill>
              <a:ln w="9525" cap="flat">
                <a:solidFill>
                  <a:srgbClr val="1F77B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100</c:v>
                </c:pt>
                <c:pt idx="1">
                  <c:v>105</c:v>
                </c:pt>
                <c:pt idx="2">
                  <c:v>111</c:v>
                </c:pt>
                <c:pt idx="3">
                  <c:v>111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BD1-4001-B370-48FB625C68F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ING APAC Total Expense</c:v>
                </c:pt>
              </c:strCache>
            </c:strRef>
          </c:tx>
          <c:spPr>
            <a:ln w="38100" cap="flat">
              <a:solidFill>
                <a:srgbClr val="AEC7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EC7E8"/>
              </a:solidFill>
              <a:ln w="9525" cap="flat">
                <a:solidFill>
                  <a:srgbClr val="AEC7E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100</c:v>
                </c:pt>
                <c:pt idx="1">
                  <c:v>108</c:v>
                </c:pt>
                <c:pt idx="2">
                  <c:v>118</c:v>
                </c:pt>
                <c:pt idx="3">
                  <c:v>123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BBD1-4001-B370-48FB625C68F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95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4F4F4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4F4F4"/>
    </a:solidFill>
    <a:ln w="12700" cap="flat">
      <a:solidFill>
        <a:srgbClr val="DDDDDD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006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 is lagging behind in both income and cost development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development (rebased to 100)</a:t>
            </a:r>
            <a:endParaRPr lang="en-US" sz="1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946310058"/>
              </p:ext>
            </p:extLst>
          </p:nvPr>
        </p:nvGraphicFramePr>
        <p:xfrm>
          <a:off x="274320" y="86868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development (rebased to 100)</a:t>
            </a:r>
            <a:endParaRPr lang="en-US" sz="1000" dirty="0"/>
          </a:p>
        </p:txBody>
      </p:sp>
      <p:graphicFrame>
        <p:nvGraphicFramePr>
          <p:cNvPr id="6" name="Chart 1"/>
          <p:cNvGraphicFramePr/>
          <p:nvPr>
            <p:extLst>
              <p:ext uri="{D42A27DB-BD31-4B8C-83A1-F6EECF244321}">
                <p14:modId xmlns:p14="http://schemas.microsoft.com/office/powerpoint/2010/main" val="1697839298"/>
              </p:ext>
            </p:extLst>
          </p:nvPr>
        </p:nvGraphicFramePr>
        <p:xfrm>
          <a:off x="4617720" y="834390"/>
          <a:ext cx="4297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Markets and Non-Markets income is behind peers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74320" y="658368"/>
            <a:ext cx="2011680" cy="274320"/>
          </a:xfrm>
          <a:prstGeom prst="rect">
            <a:avLst/>
          </a:prstGeom>
          <a:solidFill>
            <a:srgbClr val="5C0A14"/>
          </a:solidFill>
          <a:ln w="12700">
            <a:solidFill>
              <a:srgbClr val="5C0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658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income growth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6556248" cy="121310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avg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BNP Paribas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Societe Generale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Agricole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Deutsche Bank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Chartered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Barclays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2578608"/>
            <a:ext cx="2286000" cy="274320"/>
          </a:xfrm>
          <a:prstGeom prst="rect">
            <a:avLst/>
          </a:prstGeom>
          <a:solidFill>
            <a:srgbClr val="5C0A14"/>
          </a:solidFill>
          <a:ln w="12700">
            <a:solidFill>
              <a:srgbClr val="5C0A1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274320" y="2578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Non-Markets income growth</a:t>
            </a:r>
            <a:endParaRPr lang="en-US" sz="9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880360"/>
          <a:ext cx="6556248" cy="1213104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 avg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BNP Paribas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Societe Generale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Agricole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Deutsche Bank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Chartered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Barclays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'25-'24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66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 income definitions  BNPP: FICC;  SocGen: FIC (Fixed Income &amp; Currencies);  Credit Agricole: Capital Markets;  Deutsche bank: Fixed Income, Currency (FIC) Sales &amp; Trading;  Standard Chartered: Global Markets (Macro &amp; Credit trading, valuation and other);  Barclays: FICC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267</Words>
  <Application>Microsoft Office PowerPoint</Application>
  <PresentationFormat>On-screen Show (16:9)</PresentationFormat>
  <Paragraphs>81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Sanjay Mahajan</cp:lastModifiedBy>
  <cp:revision>5</cp:revision>
  <dcterms:created xsi:type="dcterms:W3CDTF">2026-03-12T02:26:00Z</dcterms:created>
  <dcterms:modified xsi:type="dcterms:W3CDTF">2026-03-12T05:53:36Z</dcterms:modified>
</cp:coreProperties>
</file>